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9"/>
  </p:notesMasterIdLst>
  <p:sldIdLst>
    <p:sldId id="256" r:id="rId2"/>
    <p:sldId id="260" r:id="rId6"/>
    <p:sldId id="261" r:id="rId7"/>
    <p:sldId id="277" r:id="rId26"/>
    <p:sldId id="259" r:id="rId5"/>
    <p:sldId id="283" r:id="rId54"/>
    <p:sldId id="265" r:id="rId11"/>
    <p:sldId id="266" r:id="rId12"/>
    <p:sldId id="264" r:id="rId10"/>
    <p:sldId id="284" r:id="rId55"/>
    <p:sldId id="285" r:id="rId56"/>
    <p:sldId id="268" r:id="rId15"/>
    <p:sldId id="275" r:id="rId24"/>
  </p:sldIdLst>
  <p:sldSz cx="24387175" cy="13716000"/>
  <p:notesSz cx="13716000" cy="24387175"/>
  <p:embeddedFontLst>
    <p:embeddedFont>
      <p:font typeface="DM Sans" pitchFamily="2" charset="77"/>
      <p:regular r:id="rId30"/>
      <p:bold r:id="rId31"/>
      <p:italic r:id="rId32"/>
      <p:boldItalic r:id="rId33"/>
    </p:embeddedFont>
    <p:embeddedFont>
      <p:font typeface="DM Sans Light" pitchFamily="2" charset="77"/>
      <p:regular r:id="rId34"/>
      <p:bold r:id="rId35"/>
      <p:italic r:id="rId36"/>
      <p:boldItalic r:id="rId37"/>
    </p:embeddedFont>
    <p:embeddedFont>
      <p:font typeface="DM Sans Medium" pitchFamily="2" charset="77"/>
      <p:regular r:id="rId38"/>
      <p:bold r:id="rId39"/>
      <p:italic r:id="rId40"/>
      <p:boldItalic r:id="rId41"/>
    </p:embeddedFont>
    <p:embeddedFont>
      <p:font typeface="DM Sans SemiBold" pitchFamily="2" charset="77"/>
      <p:regular r:id="rId42"/>
      <p:bold r:id="rId43"/>
      <p:italic r:id="rId44"/>
      <p:boldItalic r:id="rId45"/>
    </p:embeddedFont>
    <p:embeddedFont>
      <p:font typeface="Ubuntu" panose="020B050403060203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9312">
          <p15:clr>
            <a:srgbClr val="747775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54"/>
    <p:restoredTop sz="94516"/>
  </p:normalViewPr>
  <p:slideViewPr>
    <p:cSldViewPr snapToGrid="0">
      <p:cViewPr varScale="1">
        <p:scale>
          <a:sx n="63" d="100"/>
          <a:sy n="63" d="100"/>
        </p:scale>
        <p:origin x="200" y="1992"/>
      </p:cViewPr>
      <p:guideLst>
        <p:guide pos="9312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9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5" Type="http://schemas.openxmlformats.org/officeDocument/2006/relationships/slide" Target="slides/slide12.xml"/><Relationship Id="rId24" Type="http://schemas.openxmlformats.org/officeDocument/2006/relationships/slide" Target="slides/slide13.xml"/><Relationship Id="rId26" Type="http://schemas.openxmlformats.org/officeDocument/2006/relationships/slide" Target="slides/slide4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1" Type="http://schemas.openxmlformats.org/officeDocument/2006/relationships/font" Target="fonts/font12.fntdata"/><Relationship Id="rId42" Type="http://schemas.openxmlformats.org/officeDocument/2006/relationships/font" Target="fonts/font13.fntdata"/><Relationship Id="rId43" Type="http://schemas.openxmlformats.org/officeDocument/2006/relationships/font" Target="fonts/font14.fntdata"/><Relationship Id="rId44" Type="http://schemas.openxmlformats.org/officeDocument/2006/relationships/font" Target="fonts/font15.fntdata"/><Relationship Id="rId45" Type="http://schemas.openxmlformats.org/officeDocument/2006/relationships/font" Target="fonts/font16.fntdata"/><Relationship Id="rId46" Type="http://schemas.openxmlformats.org/officeDocument/2006/relationships/font" Target="fonts/font17.fntdata"/><Relationship Id="rId47" Type="http://schemas.openxmlformats.org/officeDocument/2006/relationships/font" Target="fonts/font18.fntdata"/><Relationship Id="rId48" Type="http://schemas.openxmlformats.org/officeDocument/2006/relationships/font" Target="fonts/font19.fntdata"/><Relationship Id="rId49" Type="http://schemas.openxmlformats.org/officeDocument/2006/relationships/font" Target="fonts/font20.fnt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slide" Target="slides/slide6.xml"/><Relationship Id="rId55" Type="http://schemas.openxmlformats.org/officeDocument/2006/relationships/slide" Target="slides/slide10.xml"/><Relationship Id="rId5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c8ae7d741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36c8ae7d741_0_4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6c8ae7d741_0_4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4fcd673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44fcd673b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44fcd673b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c5b63e3a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6c5b63e3a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6c5b63e3a6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3d66d7671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33d66d7671a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33d66d7671a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c8e813fa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6c8e813faa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36c8e813faa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oogle.es" TargetMode="External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69959" y="5156200"/>
            <a:ext cx="15114900" cy="50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sz="12000">
                <a:solidFill>
                  <a:srgbClr val="FFFFFF"/>
                </a:solidFill>
                <a:latin typeface="DM Sans SemiBold"/>
              </a:rPr>
              <a:t>SwarmUp</a:t>
            </a:r>
            <a:endParaRPr sz="12000" b="0" i="0" u="none" strike="noStrike" cap="none" dirty="0">
              <a:solidFill>
                <a:srgbClr val="FFFFFF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marL="0" indent="0">
              <a:lnSpc>
                <a:spcPts val="10800"/>
              </a:lnSpc>
              <a:buNone/>
            </a:pPr>
            <a:r>
              <a:rPr sz="12000">
                <a:solidFill>
                  <a:srgbClr val="A1A1A1"/>
                </a:solidFill>
                <a:latin typeface="DM Sans SemiBold"/>
              </a:rPr>
              <a:t>Autonomous crisis</a:t>
            </a:r>
          </a:p>
          <a:p>
            <a:pPr marL="0" indent="0">
              <a:lnSpc>
                <a:spcPts val="10800"/>
              </a:lnSpc>
              <a:buNone/>
            </a:pPr>
            <a:r>
              <a:rPr sz="12000">
                <a:solidFill>
                  <a:srgbClr val="FEF401"/>
                </a:solidFill>
                <a:latin typeface="DM Sans SemiBold"/>
              </a:rPr>
              <a:t>management</a:t>
            </a:r>
          </a:p>
        </p:txBody>
      </p:sp>
      <p:grpSp>
        <p:nvGrpSpPr>
          <p:cNvPr id="17" name="Google Shape;17;p3"/>
          <p:cNvGrpSpPr/>
          <p:nvPr/>
        </p:nvGrpSpPr>
        <p:grpSpPr>
          <a:xfrm>
            <a:off x="23369798" y="482578"/>
            <a:ext cx="508379" cy="482561"/>
            <a:chOff x="22964470" y="482600"/>
            <a:chExt cx="914515" cy="868071"/>
          </a:xfrm>
        </p:grpSpPr>
        <p:pic>
          <p:nvPicPr>
            <p:cNvPr id="18" name="Google Shape;18;p3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57127" y="482600"/>
              <a:ext cx="319472" cy="4901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descr="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486352" y="492354"/>
              <a:ext cx="221921" cy="3145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171761" y="884938"/>
              <a:ext cx="307275" cy="465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 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486352" y="1055625"/>
              <a:ext cx="207291" cy="292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" descr=" 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964470" y="882495"/>
              <a:ext cx="502373" cy="926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 descr=" 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3522934" y="882495"/>
              <a:ext cx="356051" cy="926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" name="Google Shape;24;p3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8069" y="520700"/>
            <a:ext cx="685875" cy="30627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495361" y="13230334"/>
            <a:ext cx="610756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3476896" y="13230334"/>
            <a:ext cx="4702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01.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508063" y="2603500"/>
            <a:ext cx="5322000" cy="23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9126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141414"/>
                </a:solidFill>
                <a:latin typeface="DM Sans Light"/>
              </a:rPr>
              <a:t>Index</a:t>
            </a:r>
            <a:endParaRPr sz="8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0326391" y="6616700"/>
            <a:ext cx="13209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0326391" y="6616700"/>
            <a:ext cx="8916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0326391" y="6705600"/>
            <a:ext cx="470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0999575" y="6616700"/>
            <a:ext cx="106572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41414"/>
                </a:solidFill>
                <a:latin typeface="DM Sans"/>
              </a:rPr>
              <a:t>Overview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3142292" y="6705600"/>
            <a:ext cx="495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41414"/>
                </a:solidFill>
                <a:latin typeface="DM Sans"/>
              </a:rPr>
              <a:t>04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326391" y="7632700"/>
            <a:ext cx="13209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0326391" y="7632700"/>
            <a:ext cx="4445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0301028" y="7778700"/>
            <a:ext cx="546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075763" y="7632700"/>
            <a:ext cx="90570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41414"/>
                </a:solidFill>
                <a:latin typeface="DM Sans"/>
              </a:rPr>
              <a:t>Architecture &amp; decision engine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3142292" y="7721600"/>
            <a:ext cx="495416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41414"/>
                </a:solidFill>
                <a:latin typeface="DM Sans"/>
              </a:rPr>
              <a:t>07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0326391" y="9664700"/>
            <a:ext cx="13209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0326391" y="9664700"/>
            <a:ext cx="6668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0326391" y="9753600"/>
            <a:ext cx="558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1088468" y="9664700"/>
            <a:ext cx="97929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DM Sans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3167696" y="9753600"/>
            <a:ext cx="470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326391" y="8648700"/>
            <a:ext cx="13209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0326391" y="8648700"/>
            <a:ext cx="4674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326391" y="8794700"/>
            <a:ext cx="558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088460" y="8648700"/>
            <a:ext cx="96060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41414"/>
                </a:solidFill>
                <a:latin typeface="DM Sans"/>
              </a:rPr>
              <a:t>Demo &amp; status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3142292" y="8737600"/>
            <a:ext cx="495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41414"/>
                </a:solidFill>
                <a:latin typeface="DM Sans"/>
              </a:rPr>
              <a:t>11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326391" y="10680700"/>
            <a:ext cx="13209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326391" y="10680700"/>
            <a:ext cx="5626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0326391" y="10763250"/>
            <a:ext cx="571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1101164" y="10680700"/>
            <a:ext cx="96060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DM Sans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3180397" y="10769600"/>
            <a:ext cx="4572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DM San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6391" y="7394575"/>
            <a:ext cx="1355259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6391" y="9426575"/>
            <a:ext cx="1355259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6391" y="10442575"/>
            <a:ext cx="1355259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6391" y="11458575"/>
            <a:ext cx="1355259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6391" y="8410575"/>
            <a:ext cx="1355259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495361" y="13230334"/>
            <a:ext cx="49678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02.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08062" y="2588782"/>
            <a:ext cx="10286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200"/>
              </a:lnSpc>
              <a:spcBef>
                <a:spcPts val="0"/>
              </a:spcBef>
              <a:spcAft>
                <a:spcPts val="0"/>
              </a:spcAft>
            </a:pPr>
            <a:r>
              <a:rPr sz="5400">
                <a:solidFill>
                  <a:srgbClr val="FFFFFF"/>
                </a:solidFill>
                <a:latin typeface="DM Sans Light"/>
              </a:rPr>
              <a:t>01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683108" y="2614182"/>
            <a:ext cx="180999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FFFFFF"/>
                </a:solidFill>
                <a:latin typeface="DM Sans Medium"/>
              </a:rPr>
              <a:t>Overview</a:t>
            </a:r>
            <a:endParaRPr sz="8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95361" y="13230334"/>
            <a:ext cx="50257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03.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24" descr="Textura 1 destacados.jpg"/>
          <p:cNvPicPr preferRelativeResize="0"/>
          <p:nvPr/>
        </p:nvPicPr>
        <p:blipFill rotWithShape="1">
          <a:blip r:embed="rId3">
            <a:alphaModFix/>
          </a:blip>
          <a:srcRect l="10141" t="30012" r="349" b="8259"/>
          <a:stretch/>
        </p:blipFill>
        <p:spPr>
          <a:xfrm>
            <a:off x="-51132" y="3"/>
            <a:ext cx="24438102" cy="13715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24"/>
          <p:cNvGrpSpPr/>
          <p:nvPr/>
        </p:nvGrpSpPr>
        <p:grpSpPr>
          <a:xfrm>
            <a:off x="23369798" y="482578"/>
            <a:ext cx="508379" cy="482561"/>
            <a:chOff x="22964470" y="482600"/>
            <a:chExt cx="914515" cy="868071"/>
          </a:xfrm>
        </p:grpSpPr>
        <p:pic>
          <p:nvPicPr>
            <p:cNvPr id="519" name="Google Shape;519;p24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57127" y="482600"/>
              <a:ext cx="319472" cy="4901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4" descr="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486352" y="492354"/>
              <a:ext cx="221921" cy="3145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4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171761" y="884938"/>
              <a:ext cx="307275" cy="465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24" descr=" 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486352" y="1055625"/>
              <a:ext cx="207291" cy="292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24" descr=" 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964470" y="882495"/>
              <a:ext cx="502373" cy="926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24" descr=" 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3522934" y="882495"/>
              <a:ext cx="356051" cy="926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5" name="Google Shape;525;p24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8069" y="520700"/>
            <a:ext cx="685875" cy="30627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4"/>
          <p:cNvSpPr/>
          <p:nvPr/>
        </p:nvSpPr>
        <p:spPr>
          <a:xfrm>
            <a:off x="14782800" y="4350450"/>
            <a:ext cx="8229600" cy="53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200"/>
              </a:lnSpc>
              <a:spcBef>
                <a:spcPts val="0"/>
              </a:spcBef>
              <a:spcAft>
                <a:spcPts val="0"/>
              </a:spcAft>
            </a:pPr>
            <a:r>
              <a:rPr sz="8000">
                <a:solidFill>
                  <a:srgbClr val="FEF401"/>
                </a:solidFill>
                <a:latin typeface="DM Sans"/>
              </a:rPr>
              <a:t>Can AI manage a crisis?</a:t>
            </a:r>
            <a:endParaRPr sz="8000" i="0" u="none" strike="noStrike" cap="none" dirty="0">
              <a:solidFill>
                <a:srgbClr val="FEF40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7" name="Google Shape;527;p24" title="Arrow symbol.png"/>
          <p:cNvPicPr preferRelativeResize="0"/>
          <p:nvPr/>
        </p:nvPicPr>
        <p:blipFill rotWithShape="1">
          <a:blip r:embed="rId11">
            <a:alphaModFix/>
          </a:blip>
          <a:srcRect t="29" b="39"/>
          <a:stretch/>
        </p:blipFill>
        <p:spPr>
          <a:xfrm>
            <a:off x="13525103" y="4588481"/>
            <a:ext cx="732299" cy="715474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4"/>
          <p:cNvSpPr/>
          <p:nvPr/>
        </p:nvSpPr>
        <p:spPr>
          <a:xfrm>
            <a:off x="495361" y="13230334"/>
            <a:ext cx="41440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F6FBFB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rgbClr val="F6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F6FBFB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F6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23485030" y="13230334"/>
            <a:ext cx="4621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F6FBFB"/>
                </a:solidFill>
                <a:latin typeface="DM Sans"/>
              </a:rPr>
              <a:t>04.</a:t>
            </a:r>
            <a:endParaRPr b="0" i="0" u="none" strike="noStrike" cap="none" dirty="0">
              <a:solidFill>
                <a:srgbClr val="F6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7620950" y="2448150"/>
            <a:ext cx="7899900" cy="5156100"/>
          </a:xfrm>
          <a:prstGeom prst="roundRect">
            <a:avLst>
              <a:gd name="adj" fmla="val 3015"/>
            </a:avLst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9469022" y="3022600"/>
            <a:ext cx="50976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71717"/>
                </a:solidFill>
                <a:latin typeface="DM Sans"/>
              </a:rPr>
              <a:t>Triage the signals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281425" y="5267709"/>
            <a:ext cx="6300000" cy="1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71717"/>
                </a:solidFill>
                <a:latin typeface="DM Sans"/>
              </a:rPr>
              <a:t>Filters noise and prioritizes what matters in real time.</a:t>
            </a:r>
            <a:endParaRPr sz="2400" dirty="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7620943" y="7924800"/>
            <a:ext cx="16334100" cy="4762500"/>
          </a:xfrm>
          <a:prstGeom prst="roundRect">
            <a:avLst>
              <a:gd name="adj" fmla="val 3264"/>
            </a:avLst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469022" y="8476121"/>
            <a:ext cx="5376900" cy="13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71717"/>
                </a:solidFill>
                <a:latin typeface="DM Sans"/>
              </a:rPr>
              <a:t>Deploy &amp; replan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8230625" y="10343750"/>
            <a:ext cx="7899900" cy="1719000"/>
            <a:chOff x="8230625" y="10343750"/>
            <a:chExt cx="7899900" cy="1719000"/>
          </a:xfrm>
        </p:grpSpPr>
        <p:sp>
          <p:nvSpPr>
            <p:cNvPr id="61" name="Google Shape;61;p6"/>
            <p:cNvSpPr/>
            <p:nvPr/>
          </p:nvSpPr>
          <p:spPr>
            <a:xfrm>
              <a:off x="8230625" y="10343750"/>
              <a:ext cx="7899900" cy="1719000"/>
            </a:xfrm>
            <a:prstGeom prst="roundRect">
              <a:avLst>
                <a:gd name="adj" fmla="val 7979"/>
              </a:avLst>
            </a:prstGeom>
            <a:noFill/>
            <a:ln w="12700" cap="flat" cmpd="sng">
              <a:solidFill>
                <a:srgbClr val="1A2331">
                  <a:alpha val="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8368464" y="10480461"/>
              <a:ext cx="7624200" cy="1445700"/>
            </a:xfrm>
            <a:prstGeom prst="roundRect">
              <a:avLst>
                <a:gd name="adj" fmla="val 948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3" name="Google Shape;63;p6"/>
          <p:cNvGrpSpPr/>
          <p:nvPr/>
        </p:nvGrpSpPr>
        <p:grpSpPr>
          <a:xfrm>
            <a:off x="8709196" y="10822236"/>
            <a:ext cx="495639" cy="495577"/>
            <a:chOff x="8709196" y="10822236"/>
            <a:chExt cx="495639" cy="495577"/>
          </a:xfrm>
        </p:grpSpPr>
        <p:pic>
          <p:nvPicPr>
            <p:cNvPr id="64" name="Google Shape;64;p6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709196" y="10822236"/>
              <a:ext cx="495639" cy="4955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876723" y="10929057"/>
              <a:ext cx="154106" cy="268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Google Shape;66;p6"/>
          <p:cNvSpPr/>
          <p:nvPr/>
        </p:nvSpPr>
        <p:spPr>
          <a:xfrm>
            <a:off x="9409917" y="10822236"/>
            <a:ext cx="617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9409917" y="10822236"/>
            <a:ext cx="6280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D192C"/>
                </a:solidFill>
                <a:latin typeface="DM Sans"/>
              </a:rPr>
              <a:t>Assigns the remaining resources on the ground.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16486642" y="10345812"/>
            <a:ext cx="6884400" cy="1719000"/>
            <a:chOff x="16486642" y="10345812"/>
            <a:chExt cx="6884400" cy="1719000"/>
          </a:xfrm>
        </p:grpSpPr>
        <p:sp>
          <p:nvSpPr>
            <p:cNvPr id="69" name="Google Shape;69;p6"/>
            <p:cNvSpPr/>
            <p:nvPr/>
          </p:nvSpPr>
          <p:spPr>
            <a:xfrm>
              <a:off x="16486642" y="10345812"/>
              <a:ext cx="6884400" cy="1719000"/>
            </a:xfrm>
            <a:prstGeom prst="roundRect">
              <a:avLst>
                <a:gd name="adj" fmla="val 7979"/>
              </a:avLst>
            </a:prstGeom>
            <a:noFill/>
            <a:ln w="12700" cap="flat" cmpd="sng">
              <a:solidFill>
                <a:srgbClr val="1A2331">
                  <a:alpha val="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16623357" y="10482523"/>
              <a:ext cx="6610800" cy="1445700"/>
            </a:xfrm>
            <a:prstGeom prst="roundRect">
              <a:avLst>
                <a:gd name="adj" fmla="val 948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16965184" y="10824294"/>
            <a:ext cx="495639" cy="495577"/>
            <a:chOff x="16965184" y="10824294"/>
            <a:chExt cx="495639" cy="495577"/>
          </a:xfrm>
        </p:grpSpPr>
        <p:pic>
          <p:nvPicPr>
            <p:cNvPr id="72" name="Google Shape;72;p6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965184" y="10824294"/>
              <a:ext cx="495639" cy="4955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6" descr=" 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132736" y="10931116"/>
              <a:ext cx="154106" cy="268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6"/>
          <p:cNvSpPr/>
          <p:nvPr/>
        </p:nvSpPr>
        <p:spPr>
          <a:xfrm>
            <a:off x="17513505" y="10824294"/>
            <a:ext cx="52263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7665905" y="10824294"/>
            <a:ext cx="53280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D192C"/>
                </a:solidFill>
                <a:latin typeface="DM Sans"/>
              </a:rPr>
              <a:t>Re-plans automatically the moment the situation changes.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5826178" y="2463800"/>
            <a:ext cx="8052900" cy="5156100"/>
          </a:xfrm>
          <a:prstGeom prst="roundRect">
            <a:avLst>
              <a:gd name="adj" fmla="val 3015"/>
            </a:avLst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7744089" y="3022600"/>
            <a:ext cx="50976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71717"/>
                </a:solidFill>
                <a:latin typeface="DM Sans"/>
              </a:rPr>
              <a:t>Stay safe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6524775" y="5267709"/>
            <a:ext cx="6300000" cy="1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71717"/>
                </a:solidFill>
                <a:latin typeface="DM Sans"/>
              </a:rPr>
              <a:t>Hard-rule validation vetoes anything unsafe before it executes.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08075" y="5740873"/>
            <a:ext cx="5995200" cy="3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171717"/>
                </a:solidFill>
                <a:latin typeface="DM Sans Light"/>
              </a:rPr>
              <a:t>SwarmUp is a hybrid decision engine — hard rules plus an LLM — that manages a live crisis end to end.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8069" y="2463800"/>
            <a:ext cx="5423173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171717"/>
                </a:solidFill>
                <a:latin typeface="DM Sans Light"/>
              </a:rPr>
              <a:t>Objectives</a:t>
            </a:r>
            <a:endParaRPr sz="8800" dirty="0">
              <a:solidFill>
                <a:srgbClr val="171717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grpSp>
        <p:nvGrpSpPr>
          <p:cNvPr id="81" name="Google Shape;81;p6"/>
          <p:cNvGrpSpPr/>
          <p:nvPr/>
        </p:nvGrpSpPr>
        <p:grpSpPr>
          <a:xfrm>
            <a:off x="8308950" y="3133950"/>
            <a:ext cx="863700" cy="863700"/>
            <a:chOff x="8308950" y="3133950"/>
            <a:chExt cx="863700" cy="863700"/>
          </a:xfrm>
        </p:grpSpPr>
        <p:sp>
          <p:nvSpPr>
            <p:cNvPr id="82" name="Google Shape;82;p6"/>
            <p:cNvSpPr/>
            <p:nvPr/>
          </p:nvSpPr>
          <p:spPr>
            <a:xfrm>
              <a:off x="8308950" y="3133950"/>
              <a:ext cx="863700" cy="86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3" name="Google Shape;83;p6" title="Arrow symbol.png"/>
            <p:cNvPicPr preferRelativeResize="0"/>
            <p:nvPr/>
          </p:nvPicPr>
          <p:blipFill rotWithShape="1">
            <a:blip r:embed="rId8">
              <a:alphaModFix/>
            </a:blip>
            <a:srcRect t="29" b="39"/>
            <a:stretch/>
          </p:blipFill>
          <p:spPr>
            <a:xfrm>
              <a:off x="8622234" y="3356375"/>
              <a:ext cx="433936" cy="4239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6"/>
          <p:cNvGrpSpPr/>
          <p:nvPr/>
        </p:nvGrpSpPr>
        <p:grpSpPr>
          <a:xfrm>
            <a:off x="8308950" y="8618338"/>
            <a:ext cx="863700" cy="863700"/>
            <a:chOff x="8308950" y="8618338"/>
            <a:chExt cx="863700" cy="863700"/>
          </a:xfrm>
        </p:grpSpPr>
        <p:sp>
          <p:nvSpPr>
            <p:cNvPr id="85" name="Google Shape;85;p6"/>
            <p:cNvSpPr/>
            <p:nvPr/>
          </p:nvSpPr>
          <p:spPr>
            <a:xfrm>
              <a:off x="8308950" y="8618338"/>
              <a:ext cx="863700" cy="86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6" name="Google Shape;86;p6" title="Arrow symbol.png"/>
            <p:cNvPicPr preferRelativeResize="0"/>
            <p:nvPr/>
          </p:nvPicPr>
          <p:blipFill rotWithShape="1">
            <a:blip r:embed="rId8">
              <a:alphaModFix/>
            </a:blip>
            <a:srcRect t="29" b="39"/>
            <a:stretch/>
          </p:blipFill>
          <p:spPr>
            <a:xfrm>
              <a:off x="8622234" y="8838213"/>
              <a:ext cx="433936" cy="4239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6"/>
          <p:cNvGrpSpPr/>
          <p:nvPr/>
        </p:nvGrpSpPr>
        <p:grpSpPr>
          <a:xfrm>
            <a:off x="16524775" y="3133950"/>
            <a:ext cx="863700" cy="863700"/>
            <a:chOff x="16524775" y="3133950"/>
            <a:chExt cx="863700" cy="863700"/>
          </a:xfrm>
        </p:grpSpPr>
        <p:sp>
          <p:nvSpPr>
            <p:cNvPr id="88" name="Google Shape;88;p6"/>
            <p:cNvSpPr/>
            <p:nvPr/>
          </p:nvSpPr>
          <p:spPr>
            <a:xfrm>
              <a:off x="16524775" y="3133950"/>
              <a:ext cx="863700" cy="86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9" name="Google Shape;89;p6" title="Arrow symbol.png"/>
            <p:cNvPicPr preferRelativeResize="0"/>
            <p:nvPr/>
          </p:nvPicPr>
          <p:blipFill rotWithShape="1">
            <a:blip r:embed="rId8">
              <a:alphaModFix/>
            </a:blip>
            <a:srcRect t="29" b="39"/>
            <a:stretch/>
          </p:blipFill>
          <p:spPr>
            <a:xfrm>
              <a:off x="16815859" y="3356375"/>
              <a:ext cx="433936" cy="4239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6"/>
          <p:cNvSpPr/>
          <p:nvPr/>
        </p:nvSpPr>
        <p:spPr>
          <a:xfrm>
            <a:off x="495361" y="13230334"/>
            <a:ext cx="412476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3466392" y="13230334"/>
            <a:ext cx="48078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05.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8" name="Google Shape;138;p8"/>
          <p:cNvSpPr/>
          <p:nvPr/>
        </p:nvSpPr>
        <p:spPr>
          <a:xfrm>
            <a:off x="508062" y="2588782"/>
            <a:ext cx="10286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200"/>
              </a:lnSpc>
              <a:spcBef>
                <a:spcPts val="0"/>
              </a:spcBef>
              <a:spcAft>
                <a:spcPts val="0"/>
              </a:spcAft>
            </a:pPr>
            <a:r>
              <a:rPr sz="5400">
                <a:solidFill>
                  <a:srgbClr val="FFFFFF"/>
                </a:solidFill>
                <a:latin typeface="DM Sans Light"/>
              </a:rPr>
              <a:t>02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683108" y="2614182"/>
            <a:ext cx="180999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FFFFFF"/>
                </a:solidFill>
                <a:latin typeface="DM Sans Medium"/>
              </a:rPr>
              <a:t>Architecture</a:t>
            </a:r>
            <a:endParaRPr sz="8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ts val="7040"/>
              </a:lnSpc>
              <a:buNone/>
            </a:pPr>
            <a:r>
              <a:rPr sz="8800">
                <a:solidFill>
                  <a:srgbClr val="A1A1A1"/>
                </a:solidFill>
                <a:latin typeface="DM Sans Medium"/>
              </a:rPr>
              <a:t>&amp; decision engine</a:t>
            </a:r>
          </a:p>
        </p:txBody>
      </p:sp>
      <p:pic>
        <p:nvPicPr>
          <p:cNvPr id="140" name="Google Shape;140;p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95361" y="13230334"/>
            <a:ext cx="50257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06.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454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2"/>
          <p:cNvSpPr/>
          <p:nvPr/>
        </p:nvSpPr>
        <p:spPr>
          <a:xfrm>
            <a:off x="8370346" y="1066800"/>
            <a:ext cx="7646400" cy="5727600"/>
          </a:xfrm>
          <a:prstGeom prst="roundRect">
            <a:avLst>
              <a:gd name="adj" fmla="val 2714"/>
            </a:avLst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9030829" y="2387600"/>
            <a:ext cx="53940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>
                <a:solidFill>
                  <a:srgbClr val="171717"/>
                </a:solidFill>
                <a:latin typeface="DM Sans SemiBold"/>
              </a:rPr>
              <a:t>Backend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9056225" y="4138290"/>
            <a:ext cx="6350100" cy="1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D192C"/>
                </a:solidFill>
                <a:latin typeface="DM Sans"/>
              </a:rPr>
              <a:t>Node server: REST API, decision engine and RAG.</a:t>
            </a:r>
            <a:endParaRPr sz="1800" b="0" i="0" u="none" strike="noStrike" cap="none" dirty="0">
              <a:solidFill>
                <a:srgbClr val="0D19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030829" y="1529779"/>
            <a:ext cx="24303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Font typeface="DM Sans Light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370346" y="6985000"/>
            <a:ext cx="7646400" cy="5727600"/>
          </a:xfrm>
          <a:prstGeom prst="roundRect">
            <a:avLst>
              <a:gd name="adj" fmla="val 2714"/>
            </a:avLst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9030825" y="8293100"/>
            <a:ext cx="68331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>
                <a:solidFill>
                  <a:srgbClr val="171717"/>
                </a:solidFill>
                <a:latin typeface="DM Sans SemiBold"/>
              </a:rPr>
              <a:t>Shared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056225" y="10755275"/>
            <a:ext cx="5525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D192C"/>
                </a:solidFill>
                <a:latin typeface="DM Sans"/>
              </a:rPr>
              <a:t>Shared types, schemas and the hard-rules catalog.</a:t>
            </a:r>
            <a:endParaRPr sz="1800" b="0" i="0" u="none" strike="noStrike" cap="none" dirty="0">
              <a:solidFill>
                <a:srgbClr val="0D19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030829" y="7447979"/>
            <a:ext cx="24303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Font typeface="DM Sans Light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6219927" y="1066800"/>
            <a:ext cx="7646400" cy="5727600"/>
          </a:xfrm>
          <a:prstGeom prst="roundRect">
            <a:avLst>
              <a:gd name="adj" fmla="val 2714"/>
            </a:avLst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p12"/>
          <p:cNvSpPr/>
          <p:nvPr/>
        </p:nvSpPr>
        <p:spPr>
          <a:xfrm>
            <a:off x="16880400" y="2387600"/>
            <a:ext cx="6350100" cy="10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>
                <a:solidFill>
                  <a:srgbClr val="171717"/>
                </a:solidFill>
                <a:latin typeface="DM Sans SemiBold"/>
              </a:rPr>
              <a:t>Frontend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6902638" y="4138290"/>
            <a:ext cx="5498100" cy="2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D192C"/>
                </a:solidFill>
                <a:latin typeface="DM Sans"/>
              </a:rPr>
              <a:t>React + MapLibre GL: crisis map, agent feed and manual control.</a:t>
            </a:r>
            <a:endParaRPr sz="1800" b="0" i="0" u="none" strike="noStrike" cap="none" dirty="0">
              <a:solidFill>
                <a:srgbClr val="0D19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16880410" y="1529779"/>
            <a:ext cx="24303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Font typeface="DM Sans Light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6219927" y="6985000"/>
            <a:ext cx="7646400" cy="5727600"/>
          </a:xfrm>
          <a:prstGeom prst="roundRect">
            <a:avLst>
              <a:gd name="adj" fmla="val 2714"/>
            </a:avLst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16880410" y="8293100"/>
            <a:ext cx="47334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>
                <a:solidFill>
                  <a:srgbClr val="171717"/>
                </a:solidFill>
                <a:latin typeface="DM Sans SemiBold"/>
              </a:rPr>
              <a:t>Data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6905825" y="10755275"/>
            <a:ext cx="58299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D192C"/>
                </a:solidFill>
                <a:latin typeface="DM Sans"/>
              </a:rPr>
              <a:t>Event script and RAG history preloaded per element type.</a:t>
            </a:r>
            <a:endParaRPr sz="1800" b="0" i="0" u="none" strike="noStrike" cap="none">
              <a:solidFill>
                <a:srgbClr val="0D19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6880410" y="7447979"/>
            <a:ext cx="24303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Font typeface="DM Sans Light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7200900"/>
            <a:ext cx="3038731" cy="547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2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7662" y="7309811"/>
            <a:ext cx="2478137" cy="3512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2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1693649"/>
            <a:ext cx="3065957" cy="202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2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11666426"/>
            <a:ext cx="2929800" cy="1034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6134" y="11666426"/>
            <a:ext cx="3975907" cy="103469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/>
          <p:nvPr/>
        </p:nvSpPr>
        <p:spPr>
          <a:xfrm>
            <a:off x="508063" y="2463800"/>
            <a:ext cx="73965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EEF6F6"/>
                </a:solidFill>
                <a:latin typeface="DM Sans Light"/>
              </a:rPr>
              <a:t>Monorepo structure</a:t>
            </a:r>
            <a:endParaRPr sz="8800">
              <a:solidFill>
                <a:srgbClr val="171717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95361" y="13230334"/>
            <a:ext cx="41728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3408640" y="13230334"/>
            <a:ext cx="5385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07.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454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/>
          <p:nvPr/>
        </p:nvSpPr>
        <p:spPr>
          <a:xfrm>
            <a:off x="508063" y="7006175"/>
            <a:ext cx="59358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FFFFF"/>
                </a:solidFill>
                <a:latin typeface="DM Sans"/>
              </a:rPr>
              <a:t>Perception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08063" y="7847445"/>
            <a:ext cx="17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1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63" y="7866495"/>
            <a:ext cx="304838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13"/>
          <p:cNvGrpSpPr/>
          <p:nvPr/>
        </p:nvGrpSpPr>
        <p:grpSpPr>
          <a:xfrm>
            <a:off x="508063" y="7847445"/>
            <a:ext cx="1799385" cy="435900"/>
            <a:chOff x="508063" y="8597900"/>
            <a:chExt cx="1799385" cy="435900"/>
          </a:xfrm>
        </p:grpSpPr>
        <p:sp>
          <p:nvSpPr>
            <p:cNvPr id="251" name="Google Shape;251;p13"/>
            <p:cNvSpPr/>
            <p:nvPr/>
          </p:nvSpPr>
          <p:spPr>
            <a:xfrm>
              <a:off x="508063" y="86169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918748" y="8597900"/>
              <a:ext cx="13887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buNone/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FEF401"/>
                  </a:solidFill>
                  <a:latin typeface="Arial"/>
                </a:rPr>
                <a:t>~1 ms</a:t>
              </a: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3"/>
          <p:cNvSpPr/>
          <p:nvPr/>
        </p:nvSpPr>
        <p:spPr>
          <a:xfrm>
            <a:off x="508063" y="9245600"/>
            <a:ext cx="58680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DM Sans"/>
              </a:rPr>
              <a:t>Deterministic: derives status and severity, computes priority.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383048" y="7006175"/>
            <a:ext cx="59358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FFFFF"/>
                </a:solidFill>
                <a:latin typeface="DM Sans"/>
              </a:rPr>
              <a:t>Deliberation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383048" y="7847445"/>
            <a:ext cx="17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383048" y="786649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7" name="Google Shape;257;p13"/>
          <p:cNvGrpSpPr/>
          <p:nvPr/>
        </p:nvGrpSpPr>
        <p:grpSpPr>
          <a:xfrm>
            <a:off x="8383048" y="7847445"/>
            <a:ext cx="1799384" cy="435900"/>
            <a:chOff x="8383048" y="8597900"/>
            <a:chExt cx="1799384" cy="435900"/>
          </a:xfrm>
        </p:grpSpPr>
        <p:pic>
          <p:nvPicPr>
            <p:cNvPr id="258" name="Google Shape;258;p13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83048" y="8616950"/>
              <a:ext cx="304838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3"/>
            <p:cNvSpPr/>
            <p:nvPr/>
          </p:nvSpPr>
          <p:spPr>
            <a:xfrm>
              <a:off x="8793732" y="8597900"/>
              <a:ext cx="13887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buNone/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FEF401"/>
                  </a:solidFill>
                  <a:latin typeface="Arial"/>
                </a:rPr>
                <a:t>8-30 s</a:t>
              </a: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3"/>
          <p:cNvSpPr/>
          <p:nvPr/>
        </p:nvSpPr>
        <p:spPr>
          <a:xfrm>
            <a:off x="8383050" y="9245600"/>
            <a:ext cx="5868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DM Sans"/>
              </a:rPr>
              <a:t>LLM: reads the world, the rules catalog, site history and the plan in progress.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6258032" y="7006175"/>
            <a:ext cx="59358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FFFFF"/>
                </a:solidFill>
                <a:latin typeface="DM Sans"/>
              </a:rPr>
              <a:t>Validation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6258032" y="7847445"/>
            <a:ext cx="17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1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58032" y="7866495"/>
            <a:ext cx="304838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3"/>
          <p:cNvGrpSpPr/>
          <p:nvPr/>
        </p:nvGrpSpPr>
        <p:grpSpPr>
          <a:xfrm>
            <a:off x="16258032" y="7847445"/>
            <a:ext cx="1799385" cy="435900"/>
            <a:chOff x="16258032" y="8597900"/>
            <a:chExt cx="1799385" cy="435900"/>
          </a:xfrm>
        </p:grpSpPr>
        <p:sp>
          <p:nvSpPr>
            <p:cNvPr id="265" name="Google Shape;265;p13"/>
            <p:cNvSpPr/>
            <p:nvPr/>
          </p:nvSpPr>
          <p:spPr>
            <a:xfrm>
              <a:off x="16258032" y="86169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16668717" y="8597900"/>
              <a:ext cx="13887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buNone/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FEF401"/>
                  </a:solidFill>
                  <a:latin typeface="Arial"/>
                </a:rPr>
                <a:t>~1 ms</a:t>
              </a: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3"/>
          <p:cNvSpPr/>
          <p:nvPr/>
        </p:nvSpPr>
        <p:spPr>
          <a:xfrm>
            <a:off x="16258025" y="9245600"/>
            <a:ext cx="5868000" cy="3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DM Sans"/>
              </a:rPr>
              <a:t>Deterministic: vetoes hard-rule violations, up to two retries.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006" y="6397297"/>
            <a:ext cx="7316114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520765" y="6295697"/>
            <a:ext cx="216000" cy="216000"/>
          </a:xfrm>
          <a:prstGeom prst="ellipse">
            <a:avLst/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1" name="Google Shape;271;p1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5991" y="6397297"/>
            <a:ext cx="7290711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8395749" y="6295697"/>
            <a:ext cx="216000" cy="216000"/>
          </a:xfrm>
          <a:prstGeom prst="ellipse">
            <a:avLst/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13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50169" y="6397297"/>
            <a:ext cx="7303413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16219927" y="6295697"/>
            <a:ext cx="216000" cy="216000"/>
          </a:xfrm>
          <a:prstGeom prst="ellipse">
            <a:avLst/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508088" y="2463800"/>
            <a:ext cx="153240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chemeClr val="lt1"/>
                </a:solidFill>
                <a:latin typeface="DM Sans Light"/>
              </a:rPr>
              <a:t>How the agent decides</a:t>
            </a:r>
            <a:endParaRPr sz="8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95361" y="13230334"/>
            <a:ext cx="416326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23418265" y="13230334"/>
            <a:ext cx="52891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08.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461100" y="488500"/>
            <a:ext cx="8472000" cy="12592500"/>
          </a:xfrm>
          <a:prstGeom prst="roundRect">
            <a:avLst>
              <a:gd name="adj" fmla="val 2804"/>
            </a:avLst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11367921" y="9194800"/>
            <a:ext cx="4338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1338457" y="1143877"/>
            <a:ext cx="73965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171717"/>
                </a:solidFill>
                <a:latin typeface="DM Sans Light"/>
              </a:rPr>
              <a:t>Resilience &amp; tech stack</a:t>
            </a:r>
            <a:endParaRPr sz="8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1" title="Group 1410105539.png"/>
          <p:cNvPicPr preferRelativeResize="0"/>
          <p:nvPr/>
        </p:nvPicPr>
        <p:blipFill rotWithShape="1">
          <a:blip r:embed="rId3">
            <a:alphaModFix/>
          </a:blip>
          <a:srcRect l="13985" b="17484"/>
          <a:stretch/>
        </p:blipFill>
        <p:spPr>
          <a:xfrm>
            <a:off x="461100" y="6798700"/>
            <a:ext cx="6897849" cy="628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/>
          <p:nvPr/>
        </p:nvSpPr>
        <p:spPr>
          <a:xfrm>
            <a:off x="495362" y="13230334"/>
            <a:ext cx="41343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09.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2070080" y="3299100"/>
            <a:ext cx="9468600" cy="7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87680" marR="0" indent="-24384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Never freezes</a:t>
            </a:r>
            <a:endParaRPr sz="2400" dirty="0">
              <a:solidFill>
                <a:srgbClr val="0D192C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If the LLM doesn't answer in time, the engine degrades to the deterministic priority formula and the simulation keeps running.</a:t>
            </a:r>
          </a:p>
          <a:p>
            <a:pPr marL="0" indent="0">
              <a:spcAft>
                <a:spcPts val="2400"/>
              </a:spcAft>
              <a:buNone/>
            </a:pPr>
            <a:r>
              <a:t/>
            </a:r>
          </a:p>
          <a:p>
            <a:pPr marL="487680" indent="-243840" algn="l"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Provider-agnostic LLM</a:t>
            </a: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Any OpenAI-compatible provider; it's configuration in .env, not code.</a:t>
            </a:r>
          </a:p>
          <a:p>
            <a:pPr marL="0" indent="0">
              <a:spcAft>
                <a:spcPts val="2400"/>
              </a:spcAft>
              <a:buNone/>
            </a:pPr>
            <a:r>
              <a:t/>
            </a:r>
          </a:p>
          <a:p>
            <a:pPr marL="487680" indent="-243840" algn="l"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Learns from history</a:t>
            </a: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RAG with local Chroma; the agent cites the incidents that apply by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8" name="Google Shape;138;p8"/>
          <p:cNvSpPr/>
          <p:nvPr/>
        </p:nvSpPr>
        <p:spPr>
          <a:xfrm>
            <a:off x="508062" y="2588782"/>
            <a:ext cx="10286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200"/>
              </a:lnSpc>
              <a:spcBef>
                <a:spcPts val="0"/>
              </a:spcBef>
              <a:spcAft>
                <a:spcPts val="0"/>
              </a:spcAft>
            </a:pPr>
            <a:r>
              <a:rPr sz="5400">
                <a:solidFill>
                  <a:srgbClr val="FFFFFF"/>
                </a:solidFill>
                <a:latin typeface="DM Sans Light"/>
              </a:rPr>
              <a:t>03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683108" y="2614182"/>
            <a:ext cx="180999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FFFFFF"/>
                </a:solidFill>
                <a:latin typeface="DM Sans Medium"/>
              </a:rPr>
              <a:t>Demo</a:t>
            </a:r>
            <a:endParaRPr sz="8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ts val="7040"/>
              </a:lnSpc>
              <a:buNone/>
            </a:pPr>
            <a:r>
              <a:rPr sz="8800">
                <a:solidFill>
                  <a:srgbClr val="A1A1A1"/>
                </a:solidFill>
                <a:latin typeface="DM Sans Medium"/>
              </a:rPr>
              <a:t>&amp; status</a:t>
            </a:r>
          </a:p>
        </p:txBody>
      </p:sp>
      <p:pic>
        <p:nvPicPr>
          <p:cNvPr id="140" name="Google Shape;140;p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95361" y="13230334"/>
            <a:ext cx="50257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10.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0" name="Google Shape;200;p11"/>
          <p:cNvSpPr/>
          <p:nvPr/>
        </p:nvSpPr>
        <p:spPr>
          <a:xfrm>
            <a:off x="461100" y="488500"/>
            <a:ext cx="8472000" cy="12592500"/>
          </a:xfrm>
          <a:prstGeom prst="roundRect">
            <a:avLst>
              <a:gd name="adj" fmla="val 2804"/>
            </a:avLst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11367921" y="9194800"/>
            <a:ext cx="4338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1338457" y="1143877"/>
            <a:ext cx="73965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171717"/>
                </a:solidFill>
                <a:latin typeface="DM Sans Light"/>
              </a:rPr>
              <a:t>Running the demo</a:t>
            </a:r>
            <a:endParaRPr sz="8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1" title="Group 1410105539.png"/>
          <p:cNvPicPr preferRelativeResize="0"/>
          <p:nvPr/>
        </p:nvPicPr>
        <p:blipFill rotWithShape="1">
          <a:blip r:embed="rId2">
            <a:alphaModFix/>
          </a:blip>
          <a:srcRect l="13985" b="17484"/>
          <a:stretch/>
        </p:blipFill>
        <p:spPr>
          <a:xfrm>
            <a:off x="461100" y="6798700"/>
            <a:ext cx="6897849" cy="628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/>
          <p:nvPr/>
        </p:nvSpPr>
        <p:spPr>
          <a:xfrm>
            <a:off x="495362" y="13230334"/>
            <a:ext cx="41343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39293"/>
                </a:solidFill>
                <a:latin typeface="DM Sans"/>
              </a:rPr>
              <a:t>11.</a:t>
            </a:r>
            <a:endParaRPr b="0" i="0" u="none" strike="noStrike" cap="none">
              <a:solidFill>
                <a:srgbClr val="839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2070080" y="3299100"/>
            <a:ext cx="9468600" cy="7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87680" marR="0" indent="-24384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Start</a:t>
            </a:r>
            <a:endParaRPr sz="2400" dirty="0">
              <a:solidFill>
                <a:srgbClr val="0D192C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One button in the header runs a 300-second scripted scenario with five key moments.</a:t>
            </a:r>
          </a:p>
          <a:p>
            <a:pPr marL="0" indent="0">
              <a:spcAft>
                <a:spcPts val="2400"/>
              </a:spcAft>
              <a:buNone/>
            </a:pPr>
            <a:r>
              <a:t/>
            </a:r>
          </a:p>
          <a:p>
            <a:pPr marL="487680" indent="-243840" algn="l"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Pause &amp; resume</a:t>
            </a: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Full control from the header at any time.</a:t>
            </a:r>
          </a:p>
          <a:p>
            <a:pPr marL="0" indent="0">
              <a:spcAft>
                <a:spcPts val="2400"/>
              </a:spcAft>
              <a:buNone/>
            </a:pPr>
            <a:r>
              <a:t/>
            </a:r>
          </a:p>
          <a:p>
            <a:pPr marL="487680" indent="-243840" algn="l">
              <a:spcAft>
                <a:spcPts val="2400"/>
              </a:spcAft>
              <a:buClr>
                <a:srgbClr val="141414"/>
              </a:buClr>
              <a:buChar char="•"/>
            </a:pPr>
            <a:r>
              <a:rPr sz="2400">
                <a:solidFill>
                  <a:srgbClr val="141414"/>
                </a:solidFill>
                <a:latin typeface="DM Sans Medium"/>
              </a:rPr>
              <a:t>Inject live events</a:t>
            </a:r>
          </a:p>
          <a:p>
            <a:pPr marL="458000" indent="0">
              <a:buNone/>
            </a:pPr>
            <a:r>
              <a:rPr sz="2400">
                <a:solidFill>
                  <a:srgbClr val="141414"/>
                </a:solidFill>
                <a:latin typeface="DM Sans Light"/>
              </a:rPr>
              <a:t>Crossing a threshold triggers a full re-plan on the next tick.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9293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/>
          <p:nvPr/>
        </p:nvSpPr>
        <p:spPr>
          <a:xfrm>
            <a:off x="495350" y="3168700"/>
            <a:ext cx="23451900" cy="9752700"/>
          </a:xfrm>
          <a:prstGeom prst="roundRect">
            <a:avLst>
              <a:gd name="adj" fmla="val 352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495362" y="13230334"/>
            <a:ext cx="1028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F8F8F"/>
                </a:solidFill>
                <a:latin typeface="DM Sans"/>
              </a:rPr>
              <a:t>Reto Happy Robot</a:t>
            </a:r>
            <a:endParaRPr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F8F8F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23591678" y="13230334"/>
            <a:ext cx="35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8F8F8F"/>
                </a:solidFill>
                <a:latin typeface="DM Sans"/>
              </a:rPr>
              <a:t>12.</a:t>
            </a:r>
            <a:endParaRPr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256075" y="5062050"/>
            <a:ext cx="21930600" cy="101700"/>
          </a:xfrm>
          <a:prstGeom prst="rect">
            <a:avLst/>
          </a:prstGeom>
          <a:solidFill>
            <a:srgbClr val="FEF4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256071" y="5258288"/>
            <a:ext cx="21930600" cy="1058700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32" name="Google Shape;332;p15">
            <a:hlinkClick r:id="rId3"/>
          </p:cNvPr>
          <p:cNvSpPr txBox="1"/>
          <p:nvPr/>
        </p:nvSpPr>
        <p:spPr>
          <a:xfrm>
            <a:off x="1686284" y="5258288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Perception, deliberation, validation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15">
            <a:hlinkClick r:id="rId3"/>
          </p:cNvPr>
          <p:cNvSpPr txBox="1"/>
          <p:nvPr/>
        </p:nvSpPr>
        <p:spPr>
          <a:xfrm>
            <a:off x="9126143" y="5258288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Done</a:t>
            </a: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15">
            <a:hlinkClick r:id="rId3"/>
          </p:cNvPr>
          <p:cNvSpPr txBox="1"/>
          <p:nvPr/>
        </p:nvSpPr>
        <p:spPr>
          <a:xfrm>
            <a:off x="16566002" y="5258288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Full 3-layer decision loop running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5" name="Google Shape;335;p15">
            <a:hlinkClick r:id="rId3"/>
          </p:cNvPr>
          <p:cNvSpPr txBox="1"/>
          <p:nvPr/>
        </p:nvSpPr>
        <p:spPr>
          <a:xfrm>
            <a:off x="1686284" y="4073621"/>
            <a:ext cx="66141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4600"/>
              </a:lnSpc>
              <a:spcBef>
                <a:spcPts val="0"/>
              </a:spcBef>
              <a:spcAft>
                <a:spcPts val="1600"/>
              </a:spcAft>
            </a:pPr>
            <a:r>
              <a:rPr sz="4000">
                <a:latin typeface="DM Sans"/>
              </a:rPr>
              <a:t>Component</a:t>
            </a:r>
            <a:endParaRPr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256071" y="6381636"/>
            <a:ext cx="21930600" cy="1058700"/>
          </a:xfrm>
          <a:prstGeom prst="rect">
            <a:avLst/>
          </a:prstGeom>
          <a:solidFill>
            <a:srgbClr val="F6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37" name="Google Shape;337;p15">
            <a:hlinkClick r:id="rId3"/>
          </p:cNvPr>
          <p:cNvSpPr txBox="1"/>
          <p:nvPr/>
        </p:nvSpPr>
        <p:spPr>
          <a:xfrm>
            <a:off x="1686284" y="6381636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RAG history (Chroma)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15">
            <a:hlinkClick r:id="rId3"/>
          </p:cNvPr>
          <p:cNvSpPr txBox="1"/>
          <p:nvPr/>
        </p:nvSpPr>
        <p:spPr>
          <a:xfrm>
            <a:off x="9126143" y="6381636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Done</a:t>
            </a: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15">
            <a:hlinkClick r:id="rId3"/>
          </p:cNvPr>
          <p:cNvSpPr txBox="1"/>
          <p:nvPr/>
        </p:nvSpPr>
        <p:spPr>
          <a:xfrm>
            <a:off x="16566002" y="6381636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Local, queried by element type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1256071" y="7509734"/>
            <a:ext cx="21930600" cy="1058700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41" name="Google Shape;341;p15">
            <a:hlinkClick r:id="rId3"/>
          </p:cNvPr>
          <p:cNvSpPr txBox="1"/>
          <p:nvPr/>
        </p:nvSpPr>
        <p:spPr>
          <a:xfrm>
            <a:off x="1686284" y="7509734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Real actions (HappyRobot API)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15">
            <a:hlinkClick r:id="rId3"/>
          </p:cNvPr>
          <p:cNvSpPr txBox="1"/>
          <p:nvPr/>
        </p:nvSpPr>
        <p:spPr>
          <a:xfrm>
            <a:off x="9126143" y="7509734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Pending</a:t>
            </a: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5">
            <a:hlinkClick r:id="rId3"/>
          </p:cNvPr>
          <p:cNvSpPr txBox="1"/>
          <p:nvPr/>
        </p:nvSpPr>
        <p:spPr>
          <a:xfrm>
            <a:off x="16566002" y="7509734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buNone/>
              <a:lnSpc>
                <a:spcPts val="2300"/>
              </a:lnSpc>
              <a:spcBef>
                <a:spcPts val="0"/>
              </a:spcBef>
              <a:spcAft>
                <a:spcPts val="1600"/>
              </a:spcAft>
            </a:pPr>
            <a:r>
              <a:rPr sz="2000">
                <a:latin typeface="DM Sans"/>
              </a:rPr>
              <a:t>Contact actions are decided and shown in the feed, integration not wired yet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256071" y="8637833"/>
            <a:ext cx="21930600" cy="1058700"/>
          </a:xfrm>
          <a:prstGeom prst="rect">
            <a:avLst/>
          </a:prstGeom>
          <a:solidFill>
            <a:srgbClr val="F6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45" name="Google Shape;345;p15">
            <a:hlinkClick r:id="rId3"/>
          </p:cNvPr>
          <p:cNvSpPr txBox="1"/>
          <p:nvPr/>
        </p:nvSpPr>
        <p:spPr>
          <a:xfrm>
            <a:off x="1686284" y="8637833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15">
            <a:hlinkClick r:id="rId3"/>
          </p:cNvPr>
          <p:cNvSpPr txBox="1"/>
          <p:nvPr/>
        </p:nvSpPr>
        <p:spPr>
          <a:xfrm>
            <a:off x="9126143" y="8637833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15">
            <a:hlinkClick r:id="rId3"/>
          </p:cNvPr>
          <p:cNvSpPr txBox="1"/>
          <p:nvPr/>
        </p:nvSpPr>
        <p:spPr>
          <a:xfrm>
            <a:off x="16566002" y="8637833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256071" y="9765932"/>
            <a:ext cx="21930600" cy="1058700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49" name="Google Shape;349;p15">
            <a:hlinkClick r:id="rId3"/>
          </p:cNvPr>
          <p:cNvSpPr txBox="1"/>
          <p:nvPr/>
        </p:nvSpPr>
        <p:spPr>
          <a:xfrm>
            <a:off x="1686284" y="976593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15">
            <a:hlinkClick r:id="rId3"/>
          </p:cNvPr>
          <p:cNvSpPr txBox="1"/>
          <p:nvPr/>
        </p:nvSpPr>
        <p:spPr>
          <a:xfrm>
            <a:off x="9126143" y="976593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p15">
            <a:hlinkClick r:id="rId3"/>
          </p:cNvPr>
          <p:cNvSpPr txBox="1"/>
          <p:nvPr/>
        </p:nvSpPr>
        <p:spPr>
          <a:xfrm>
            <a:off x="16566002" y="976593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1256071" y="10896462"/>
            <a:ext cx="21930600" cy="1058700"/>
          </a:xfrm>
          <a:prstGeom prst="rect">
            <a:avLst/>
          </a:prstGeom>
          <a:solidFill>
            <a:srgbClr val="F6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53" name="Google Shape;353;p15">
            <a:hlinkClick r:id="rId3"/>
          </p:cNvPr>
          <p:cNvSpPr txBox="1"/>
          <p:nvPr/>
        </p:nvSpPr>
        <p:spPr>
          <a:xfrm>
            <a:off x="1686284" y="1089646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5">
            <a:hlinkClick r:id="rId3"/>
          </p:cNvPr>
          <p:cNvSpPr txBox="1"/>
          <p:nvPr/>
        </p:nvSpPr>
        <p:spPr>
          <a:xfrm>
            <a:off x="9126143" y="1089646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15">
            <a:hlinkClick r:id="rId3"/>
          </p:cNvPr>
          <p:cNvSpPr txBox="1"/>
          <p:nvPr/>
        </p:nvSpPr>
        <p:spPr>
          <a:xfrm>
            <a:off x="16566002" y="10896462"/>
            <a:ext cx="6614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29924" y="1143875"/>
            <a:ext cx="14953915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8700"/>
              </a:lnSpc>
              <a:spcBef>
                <a:spcPts val="0"/>
              </a:spcBef>
              <a:spcAft>
                <a:spcPts val="0"/>
              </a:spcAft>
            </a:pPr>
            <a:r>
              <a:rPr sz="8800">
                <a:solidFill>
                  <a:srgbClr val="F6FBFB"/>
                </a:solidFill>
                <a:latin typeface="DM Sans Light"/>
              </a:rPr>
              <a:t>Status</a:t>
            </a:r>
            <a:endParaRPr sz="8800" b="0" i="0" u="none" strike="noStrike" cap="none" dirty="0">
              <a:solidFill>
                <a:srgbClr val="F6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5740242" y="1494839"/>
            <a:ext cx="7460053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6FBFB"/>
                </a:solidFill>
                <a:latin typeface="DM Sans Medium"/>
              </a:rPr>
              <a:t>Where things stand</a:t>
            </a:r>
            <a:endParaRPr sz="2400" b="0" i="0" u="none" strike="noStrike" cap="none" dirty="0">
              <a:solidFill>
                <a:srgbClr val="F6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>
            <a:hlinkClick r:id="rId3"/>
          </p:cNvPr>
          <p:cNvSpPr txBox="1"/>
          <p:nvPr/>
        </p:nvSpPr>
        <p:spPr>
          <a:xfrm>
            <a:off x="9276509" y="4073621"/>
            <a:ext cx="66141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4600"/>
              </a:lnSpc>
              <a:spcBef>
                <a:spcPts val="0"/>
              </a:spcBef>
              <a:spcAft>
                <a:spcPts val="1600"/>
              </a:spcAft>
            </a:pPr>
            <a:r>
              <a:rPr sz="4000">
                <a:latin typeface="DM Sans"/>
              </a:rPr>
              <a:t>Status</a:t>
            </a:r>
            <a:endParaRPr sz="40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15">
            <a:hlinkClick r:id="rId3"/>
          </p:cNvPr>
          <p:cNvSpPr txBox="1"/>
          <p:nvPr/>
        </p:nvSpPr>
        <p:spPr>
          <a:xfrm>
            <a:off x="16586209" y="4073621"/>
            <a:ext cx="66141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buNone/>
              <a:lnSpc>
                <a:spcPts val="4600"/>
              </a:lnSpc>
              <a:spcBef>
                <a:spcPts val="0"/>
              </a:spcBef>
              <a:spcAft>
                <a:spcPts val="1600"/>
              </a:spcAft>
            </a:pPr>
            <a:r>
              <a:rPr sz="4000">
                <a:latin typeface="DM Sans"/>
              </a:rPr>
              <a:t>Detail</a:t>
            </a:r>
            <a:endParaRPr sz="4000" dirty="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0" name="Google Shape;360;p1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63" y="508000"/>
            <a:ext cx="68588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/>
          <p:nvPr/>
        </p:nvSpPr>
        <p:spPr>
          <a:xfrm>
            <a:off x="495362" y="13230334"/>
            <a:ext cx="412476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Reto Happy Robot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0326391" y="13230334"/>
            <a:ext cx="635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20 sep.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23447141" y="13230334"/>
            <a:ext cx="5000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buNone/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lt1"/>
                </a:solidFill>
                <a:latin typeface="DM Sans"/>
              </a:rPr>
              <a:t>12.</a:t>
            </a:r>
            <a:endParaRPr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2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81" y="520700"/>
            <a:ext cx="1406100" cy="6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2"/>
          <p:cNvSpPr/>
          <p:nvPr/>
        </p:nvSpPr>
        <p:spPr>
          <a:xfrm>
            <a:off x="508075" y="8367097"/>
            <a:ext cx="11454300" cy="4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buNone/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4100">
                <a:solidFill>
                  <a:srgbClr val="FFFFFF"/>
                </a:solidFill>
                <a:latin typeface="DM Sans"/>
              </a:rPr>
              <a:t>Thank you!</a:t>
            </a:r>
            <a:endParaRPr sz="41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ts val="4100"/>
              </a:lnSpc>
              <a:buNone/>
            </a:pPr>
            <a:r>
              <a:rPr sz="4100">
                <a:solidFill>
                  <a:srgbClr val="FFFFFF"/>
                </a:solidFill>
                <a:latin typeface="DM Sans"/>
              </a:rPr>
              <a:t>CAN AI MANAGE A CRISIS? WE THINK SO.</a:t>
            </a:r>
          </a:p>
        </p:txBody>
      </p:sp>
      <p:grpSp>
        <p:nvGrpSpPr>
          <p:cNvPr id="487" name="Google Shape;487;p22"/>
          <p:cNvGrpSpPr/>
          <p:nvPr/>
        </p:nvGrpSpPr>
        <p:grpSpPr>
          <a:xfrm>
            <a:off x="23369798" y="482578"/>
            <a:ext cx="508379" cy="482561"/>
            <a:chOff x="22964470" y="482600"/>
            <a:chExt cx="914515" cy="868071"/>
          </a:xfrm>
        </p:grpSpPr>
        <p:pic>
          <p:nvPicPr>
            <p:cNvPr id="488" name="Google Shape;488;p22" descr="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157127" y="482600"/>
              <a:ext cx="319472" cy="4901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2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486352" y="492354"/>
              <a:ext cx="221921" cy="3145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22" descr=" 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171761" y="884938"/>
              <a:ext cx="307275" cy="465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22" descr=" 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3486352" y="1055625"/>
              <a:ext cx="207291" cy="292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22" descr=" 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964470" y="882495"/>
              <a:ext cx="502373" cy="926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22" descr=" 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3522934" y="882495"/>
              <a:ext cx="356051" cy="926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485;p22">
            <a:extLst>
              <a:ext uri="{FF2B5EF4-FFF2-40B4-BE49-F238E27FC236}">
                <a16:creationId xmlns:a16="http://schemas.microsoft.com/office/drawing/2014/main" id="{6BB4AFA3-7052-DD49-8043-4010A83F81B5}"/>
              </a:ext>
            </a:extLst>
          </p:cNvPr>
          <p:cNvSpPr/>
          <p:nvPr/>
        </p:nvSpPr>
        <p:spPr>
          <a:xfrm>
            <a:off x="15588513" y="12854197"/>
            <a:ext cx="2070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62500"/>
              </a:lnSpc>
              <a:spcBef>
                <a:spcPts val="0"/>
              </a:spcBef>
              <a:spcAft>
                <a:spcPts val="0"/>
              </a:spcAft>
              <a:buClr>
                <a:srgbClr val="4C5454"/>
              </a:buClr>
              <a:buSzPts val="2400"/>
              <a:buFont typeface="DM Sans Medium"/>
              <a:buNone/>
            </a:pP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86;p22">
            <a:extLst>
              <a:ext uri="{FF2B5EF4-FFF2-40B4-BE49-F238E27FC236}">
                <a16:creationId xmlns:a16="http://schemas.microsoft.com/office/drawing/2014/main" id="{EBEB5DA1-7DD0-AD77-D03D-C674249FCF40}"/>
              </a:ext>
            </a:extLst>
          </p:cNvPr>
          <p:cNvSpPr/>
          <p:nvPr/>
        </p:nvSpPr>
        <p:spPr>
          <a:xfrm>
            <a:off x="21284951" y="12854197"/>
            <a:ext cx="2517026" cy="32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62500"/>
              </a:lnSpc>
              <a:spcBef>
                <a:spcPts val="0"/>
              </a:spcBef>
              <a:spcAft>
                <a:spcPts val="0"/>
              </a:spcAft>
              <a:buClr>
                <a:srgbClr val="4C5454"/>
              </a:buClr>
              <a:buSzPts val="2400"/>
              <a:buFont typeface="DM Sans Medium"/>
              <a:buNone/>
            </a:pPr>
            <a:endParaRPr sz="2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5130</TotalTime>
  <Words>831</Words>
  <Application>Microsoft Macintosh PowerPoint</Application>
  <PresentationFormat>Custom</PresentationFormat>
  <Paragraphs>380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DM Sans</vt:lpstr>
      <vt:lpstr>DM Sans Medium</vt:lpstr>
      <vt:lpstr>DM Sans SemiBold</vt:lpstr>
      <vt:lpstr>Ubuntu</vt:lpstr>
      <vt:lpstr>Arial</vt:lpstr>
      <vt:lpstr>Calibri</vt:lpstr>
      <vt:lpstr>DM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gorka Moreno Asin</cp:lastModifiedBy>
  <cp:revision>37</cp:revision>
  <dcterms:modified xsi:type="dcterms:W3CDTF">2026-02-06T12:33:35Z</dcterms:modified>
</cp:coreProperties>
</file>